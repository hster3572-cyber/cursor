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Внедрение AI-ассистента для автоматизации административных HR-задач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Анализ снижения расходов и роста продуктивности</a:t>
            </a:r>
          </a:p>
          <a:p>
            <a:r>
              <a:t>Моделирование эффектов по отделам</a:t>
            </a:r>
          </a:p>
          <a:p/>
          <a:p>
            <a:r>
              <a:t>Дата: 20.10.2025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Повестка дня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1. Цели и задачи проекта</a:t>
            </a:r>
          </a:p>
          <a:p>
            <a:pPr>
              <a:spcAft>
                <a:spcPts val="800"/>
              </a:spcAft>
              <a:defRPr sz="2000"/>
            </a:pPr>
            <a:r>
              <a:t>2. Анализ текущего состояния</a:t>
            </a:r>
          </a:p>
          <a:p>
            <a:pPr>
              <a:spcAft>
                <a:spcPts val="800"/>
              </a:spcAft>
              <a:defRPr sz="2000"/>
            </a:pPr>
            <a:r>
              <a:t>3. Технологическое решение</a:t>
            </a:r>
          </a:p>
          <a:p>
            <a:pPr>
              <a:spcAft>
                <a:spcPts val="800"/>
              </a:spcAft>
              <a:defRPr sz="2000"/>
            </a:pPr>
            <a:r>
              <a:t>4. Финансовая модель</a:t>
            </a:r>
          </a:p>
          <a:p>
            <a:pPr>
              <a:spcAft>
                <a:spcPts val="800"/>
              </a:spcAft>
              <a:defRPr sz="2000"/>
            </a:pPr>
            <a:r>
              <a:t>5. Анализ воздействия по отделам</a:t>
            </a:r>
          </a:p>
          <a:p>
            <a:pPr>
              <a:spcAft>
                <a:spcPts val="800"/>
              </a:spcAft>
              <a:defRPr sz="2000"/>
            </a:pPr>
            <a:r>
              <a:t>6. План внедрения (диаграмма Ганта)</a:t>
            </a:r>
          </a:p>
          <a:p>
            <a:pPr>
              <a:spcAft>
                <a:spcPts val="800"/>
              </a:spcAft>
              <a:defRPr sz="2000"/>
            </a:pPr>
            <a:r>
              <a:t>7. Ожидаемые результаты</a:t>
            </a:r>
          </a:p>
          <a:p>
            <a:pPr>
              <a:spcAft>
                <a:spcPts val="800"/>
              </a:spcAft>
              <a:defRPr sz="2000"/>
            </a:pPr>
            <a:r>
              <a:t>8. Риски и митигация</a:t>
            </a:r>
          </a:p>
          <a:p>
            <a:pPr>
              <a:spcAft>
                <a:spcPts val="800"/>
              </a:spcAft>
              <a:defRPr sz="2000"/>
            </a:pPr>
            <a:r>
              <a:t>9. Выводы и рекомендации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ГЛАВНАЯ ЦЕЛЬ:</a:t>
            </a:r>
          </a:p>
          <a:p>
            <a:pPr>
              <a:spcAft>
                <a:spcPts val="600"/>
              </a:spcAft>
              <a:defRPr sz="1600"/>
            </a:pPr>
            <a:r>
              <a:t>Автоматизация административных задач с помощью AI-ассистента (Copilot-стиль)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КЛЮЧЕВЫЕ ЗАДАЧИ:</a:t>
            </a:r>
          </a:p>
          <a:p>
            <a:pPr>
              <a:spcAft>
                <a:spcPts val="600"/>
              </a:spcAft>
              <a:defRPr sz="1600"/>
            </a:pPr>
            <a:r>
              <a:t>• Снижение операционных расходов на персонал</a:t>
            </a:r>
          </a:p>
          <a:p>
            <a:pPr>
              <a:spcAft>
                <a:spcPts val="600"/>
              </a:spcAft>
              <a:defRPr sz="1600"/>
            </a:pPr>
            <a:r>
              <a:t>• Повышение продуктивности сотрудников</a:t>
            </a:r>
          </a:p>
          <a:p>
            <a:pPr>
              <a:spcAft>
                <a:spcPts val="600"/>
              </a:spcAft>
              <a:defRPr sz="1600"/>
            </a:pPr>
            <a:r>
              <a:t>• Улучшение качества выполнения рутинных задач</a:t>
            </a:r>
          </a:p>
          <a:p>
            <a:pPr>
              <a:spcAft>
                <a:spcPts val="600"/>
              </a:spcAft>
              <a:defRPr sz="1600"/>
            </a:pPr>
            <a:r>
              <a:t>• Сокращение количества ошибок</a:t>
            </a:r>
          </a:p>
          <a:p>
            <a:pPr>
              <a:spcAft>
                <a:spcPts val="600"/>
              </a:spcAft>
              <a:defRPr sz="1600"/>
            </a:pPr>
            <a:r>
              <a:t>• Освобождение времени для стратегических задач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ОБЛАСТИ ПРИМЕНЕНИЯ:</a:t>
            </a:r>
          </a:p>
          <a:p>
            <a:pPr>
              <a:spcAft>
                <a:spcPts val="600"/>
              </a:spcAft>
              <a:defRPr sz="1600"/>
            </a:pPr>
            <a:r>
              <a:t>• Канцелярия - документооборот, архивирование</a:t>
            </a:r>
          </a:p>
          <a:p>
            <a:pPr>
              <a:spcAft>
                <a:spcPts val="600"/>
              </a:spcAft>
              <a:defRPr sz="1600"/>
            </a:pPr>
            <a:r>
              <a:t>• HR отдел - обработка заявлений, отчетность</a:t>
            </a:r>
          </a:p>
          <a:p>
            <a:pPr>
              <a:spcAft>
                <a:spcPts val="600"/>
              </a:spcAft>
              <a:defRPr sz="1600"/>
            </a:pPr>
            <a:r>
              <a:t>• Бэк-офис - административные процессы, аналитика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текущего состояния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2801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  <a:gridCol w="3200400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Отдел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Сотрудники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Расходы на админ задачи (руб/мес)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Потенциал автоматизации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Канцелярия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506,250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Офис (HR отдел)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Бэк-офис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Технологическое решение: AI-ассистент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ТЕХНОЛОГИЯ: Generative AI / Large Language Model (LLM)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КЛЮЧЕВЫЕ ВОЗМОЖНОСТИ:</a:t>
            </a:r>
          </a:p>
          <a:p>
            <a:pPr>
              <a:spcAft>
                <a:spcPts val="600"/>
              </a:spcAft>
              <a:defRPr sz="1600"/>
            </a:pPr>
            <a:r>
              <a:t>• Автоматическая обработка документов</a:t>
            </a:r>
          </a:p>
          <a:p>
            <a:pPr>
              <a:spcAft>
                <a:spcPts val="600"/>
              </a:spcAft>
              <a:defRPr sz="1600"/>
            </a:pPr>
            <a:r>
              <a:t>• Генерация отчетов и справок</a:t>
            </a:r>
          </a:p>
          <a:p>
            <a:pPr>
              <a:spcAft>
                <a:spcPts val="600"/>
              </a:spcAft>
              <a:defRPr sz="1600"/>
            </a:pPr>
            <a:r>
              <a:t>• Интеллектуальная классификация заявлений</a:t>
            </a:r>
          </a:p>
          <a:p>
            <a:pPr>
              <a:spcAft>
                <a:spcPts val="600"/>
              </a:spcAft>
              <a:defRPr sz="1600"/>
            </a:pPr>
            <a:r>
              <a:t>• Автоматизация рутинных запросов</a:t>
            </a:r>
          </a:p>
          <a:p>
            <a:pPr>
              <a:spcAft>
                <a:spcPts val="600"/>
              </a:spcAft>
              <a:defRPr sz="1600"/>
            </a:pPr>
            <a:r>
              <a:t>• Помощь в принятии решений на основе данных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ПРЕИМУЩЕСТВА COPILOT-ПОДХОДА:</a:t>
            </a:r>
          </a:p>
          <a:p>
            <a:pPr>
              <a:spcAft>
                <a:spcPts val="600"/>
              </a:spcAft>
              <a:defRPr sz="1600"/>
            </a:pPr>
            <a:r>
              <a:t>• Естественное языковое взаимодействие</a:t>
            </a:r>
          </a:p>
          <a:p>
            <a:pPr>
              <a:spcAft>
                <a:spcPts val="600"/>
              </a:spcAft>
              <a:defRPr sz="1600"/>
            </a:pPr>
            <a:r>
              <a:t>• Контекстное понимание задач</a:t>
            </a:r>
          </a:p>
          <a:p>
            <a:pPr>
              <a:spcAft>
                <a:spcPts val="600"/>
              </a:spcAft>
              <a:defRPr sz="1600"/>
            </a:pPr>
            <a:r>
              <a:t>• Обучение на корпоративных данных</a:t>
            </a:r>
          </a:p>
          <a:p>
            <a:pPr>
              <a:spcAft>
                <a:spcPts val="600"/>
              </a:spcAft>
              <a:defRPr sz="1600"/>
            </a:pPr>
            <a:r>
              <a:t>• Интеграция с существующими системами</a:t>
            </a:r>
          </a:p>
          <a:p>
            <a:pPr>
              <a:spcAft>
                <a:spcPts val="600"/>
              </a:spcAft>
              <a:defRPr sz="1600"/>
            </a:pPr>
            <a:r>
              <a:t>• Масштабируемость решения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ОЖИДАЕМЫЕ ЭФФЕКТЫ:</a:t>
            </a:r>
          </a:p>
          <a:p>
            <a:pPr>
              <a:spcAft>
                <a:spcPts val="600"/>
              </a:spcAft>
              <a:defRPr sz="1600"/>
            </a:pPr>
            <a:r>
              <a:t>• Сокращение времени на рутинные задачи на 75%</a:t>
            </a:r>
          </a:p>
          <a:p>
            <a:pPr>
              <a:spcAft>
                <a:spcPts val="600"/>
              </a:spcAft>
              <a:defRPr sz="1600"/>
            </a:pPr>
            <a:r>
              <a:t>• Снижение ошибок на 85%</a:t>
            </a:r>
          </a:p>
          <a:p>
            <a:pPr>
              <a:spcAft>
                <a:spcPts val="600"/>
              </a:spcAft>
              <a:defRPr sz="1600"/>
            </a:pPr>
            <a:r>
              <a:t>• Увеличение скорости обработки в 2.5 раза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Финансовая модель проекта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Первоначальные инвестиции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/>
                      </a:pPr>
                      <a:r>
                        <a:t>700,000 руб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Ежемесячные расходы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/>
                      </a:pPr>
                      <a:r>
                        <a:t>40,000 руб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Ежемесячная экономия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/>
                      </a:pPr>
                      <a:r>
                        <a:t>2,162,278 руб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Точка безубыточности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/>
                      </a:pPr>
                      <a:r>
                        <a:t>1 месяц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ROI через 12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008000"/>
                          </a:solidFill>
                        </a:defRPr>
                      </a:pPr>
                      <a:r>
                        <a:t>2098.9%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ROI через 36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008000"/>
                          </a:solidFill>
                        </a:defRPr>
                      </a:pPr>
                      <a:r>
                        <a:t>3537.5%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воздействия по отделам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3716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  <a:gridCol w="274320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Отдел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Экономия от автоматизации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Прирост продуктивности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Снижение ошибок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Общая выгода (руб/мес)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Канцелярия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379,688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569,531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64,547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1,013,766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Офис (HR отдел)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292,500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41,438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528,938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Бэк-офис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231,000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346,500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42,075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619,575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внедрения (основные этапы)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ФАЗА 1: ПОДГОТОВКА (1-2 месяц)</a:t>
            </a:r>
          </a:p>
          <a:p>
            <a:pPr>
              <a:spcAft>
                <a:spcPts val="800"/>
              </a:spcAft>
              <a:defRPr sz="1600"/>
            </a:pPr>
            <a:r>
              <a:t>• Анализ и планирование</a:t>
            </a:r>
          </a:p>
          <a:p>
            <a:pPr>
              <a:spcAft>
                <a:spcPts val="800"/>
              </a:spcAft>
              <a:defRPr sz="1600"/>
            </a:pPr>
            <a:r>
              <a:t>• Выбор AI-платформы</a:t>
            </a:r>
          </a:p>
          <a:p>
            <a:pPr>
              <a:spcAft>
                <a:spcPts val="800"/>
              </a:spcAft>
              <a:defRPr sz="1600"/>
            </a:pPr>
            <a:r>
              <a:t>• Закупка лицензий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ФАЗА 2: ТЕХНИЧЕСКАЯ РЕАЛИЗАЦИЯ (2-4 месяц)</a:t>
            </a:r>
          </a:p>
          <a:p>
            <a:pPr>
              <a:spcAft>
                <a:spcPts val="800"/>
              </a:spcAft>
              <a:defRPr sz="1600"/>
            </a:pPr>
            <a:r>
              <a:t>• Настройка инфраструктуры</a:t>
            </a:r>
          </a:p>
          <a:p>
            <a:pPr>
              <a:spcAft>
                <a:spcPts val="800"/>
              </a:spcAft>
              <a:defRPr sz="1600"/>
            </a:pPr>
            <a:r>
              <a:t>• Интеграция с существующими системами</a:t>
            </a:r>
          </a:p>
          <a:p>
            <a:pPr>
              <a:spcAft>
                <a:spcPts val="800"/>
              </a:spcAft>
              <a:defRPr sz="1600"/>
            </a:pPr>
            <a:r>
              <a:t>• Разработка процедур и регламентов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ФАЗА 3: ОБУЧЕНИЕ И ПИЛОТ (3-5 месяц)</a:t>
            </a:r>
          </a:p>
          <a:p>
            <a:pPr>
              <a:spcAft>
                <a:spcPts val="800"/>
              </a:spcAft>
              <a:defRPr sz="1600"/>
            </a:pPr>
            <a:r>
              <a:t>• Обучение персонала всех отделов</a:t>
            </a:r>
          </a:p>
          <a:p>
            <a:pPr>
              <a:spcAft>
                <a:spcPts val="800"/>
              </a:spcAft>
              <a:defRPr sz="1600"/>
            </a:pPr>
            <a:r>
              <a:t>• Пилотное внедрение по отделам</a:t>
            </a:r>
          </a:p>
          <a:p>
            <a:pPr>
              <a:spcAft>
                <a:spcPts val="800"/>
              </a:spcAft>
              <a:defRPr sz="1600"/>
            </a:pPr>
            <a:r>
              <a:t>• Анализ результатов пилота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ФАЗА 4: ПОЛНОЕ ВНЕДРЕНИЕ (5-6 месяц)</a:t>
            </a:r>
          </a:p>
          <a:p>
            <a:pPr>
              <a:spcAft>
                <a:spcPts val="800"/>
              </a:spcAft>
              <a:defRPr sz="1600"/>
            </a:pPr>
            <a:r>
              <a:t>• Корректировка и оптимизация</a:t>
            </a:r>
          </a:p>
          <a:p>
            <a:pPr>
              <a:spcAft>
                <a:spcPts val="800"/>
              </a:spcAft>
              <a:defRPr sz="1600"/>
            </a:pPr>
            <a:r>
              <a:t>• Развертывание на всех отделах</a:t>
            </a:r>
          </a:p>
          <a:p>
            <a:pPr>
              <a:spcAft>
                <a:spcPts val="800"/>
              </a:spcAft>
              <a:defRPr sz="1600"/>
            </a:pPr>
            <a:r>
              <a:t>• Мониторинг и поддержка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ОБЩАЯ ПРОДОЛЖИТЕЛЬНОСТЬ: 9 месяцев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КОЛИЧЕСТВЕННЫЕ РЕЗУЛЬТАТЫ:</a:t>
            </a:r>
          </a:p>
          <a:p>
            <a:pPr>
              <a:spcAft>
                <a:spcPts val="600"/>
              </a:spcAft>
              <a:defRPr sz="1600"/>
            </a:pPr>
            <a:r>
              <a:t>• Экономия на зарплатном фонде: 1,200,000+ руб/год</a:t>
            </a:r>
          </a:p>
          <a:p>
            <a:pPr>
              <a:spcAft>
                <a:spcPts val="600"/>
              </a:spcAft>
              <a:defRPr sz="1600"/>
            </a:pPr>
            <a:r>
              <a:t>• Сокращение времени на админ задачи: 75%</a:t>
            </a:r>
          </a:p>
          <a:p>
            <a:pPr>
              <a:spcAft>
                <a:spcPts val="600"/>
              </a:spcAft>
              <a:defRPr sz="1600"/>
            </a:pPr>
            <a:r>
              <a:t>• Снижение количества ошибок: 85%</a:t>
            </a:r>
          </a:p>
          <a:p>
            <a:pPr>
              <a:spcAft>
                <a:spcPts val="600"/>
              </a:spcAft>
              <a:defRPr sz="1600"/>
            </a:pPr>
            <a:r>
              <a:t>• Увеличение скорости обработки: в 2.5 раза</a:t>
            </a:r>
          </a:p>
          <a:p>
            <a:pPr>
              <a:spcAft>
                <a:spcPts val="600"/>
              </a:spcAft>
              <a:defRPr sz="1600"/>
            </a:pPr>
            <a:r>
              <a:t>• ROI через 12 месяцев: 180%+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КАЧЕСТВЕННЫЕ РЕЗУЛЬТАТЫ:</a:t>
            </a:r>
          </a:p>
          <a:p>
            <a:pPr>
              <a:spcAft>
                <a:spcPts val="600"/>
              </a:spcAft>
              <a:defRPr sz="1600"/>
            </a:pPr>
            <a:r>
              <a:t>• Повышение удовлетворенности сотрудников</a:t>
            </a:r>
          </a:p>
          <a:p>
            <a:pPr>
              <a:spcAft>
                <a:spcPts val="600"/>
              </a:spcAft>
              <a:defRPr sz="1600"/>
            </a:pPr>
            <a:r>
              <a:t>• Улучшение качества обслуживания</a:t>
            </a:r>
          </a:p>
          <a:p>
            <a:pPr>
              <a:spcAft>
                <a:spcPts val="600"/>
              </a:spcAft>
              <a:defRPr sz="1600"/>
            </a:pPr>
            <a:r>
              <a:t>• Стандартизация процессов</a:t>
            </a:r>
          </a:p>
          <a:p>
            <a:pPr>
              <a:spcAft>
                <a:spcPts val="600"/>
              </a:spcAft>
              <a:defRPr sz="1600"/>
            </a:pPr>
            <a:r>
              <a:t>• Освобождение времени для стратегических задач</a:t>
            </a:r>
          </a:p>
          <a:p>
            <a:pPr>
              <a:spcAft>
                <a:spcPts val="600"/>
              </a:spcAft>
              <a:defRPr sz="1600"/>
            </a:pPr>
            <a:r>
              <a:t>• Повышение конкурентоспособности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ДОЛГОСРОЧНЫЕ ЭФФЕКТЫ:</a:t>
            </a:r>
          </a:p>
          <a:p>
            <a:pPr>
              <a:spcAft>
                <a:spcPts val="600"/>
              </a:spcAft>
              <a:defRPr sz="1600"/>
            </a:pPr>
            <a:r>
              <a:t>• Создание базы для дальнейшей цифровизации</a:t>
            </a:r>
          </a:p>
          <a:p>
            <a:pPr>
              <a:spcAft>
                <a:spcPts val="600"/>
              </a:spcAft>
              <a:defRPr sz="1600"/>
            </a:pPr>
            <a:r>
              <a:t>• Развитие компетенций в области AI</a:t>
            </a:r>
          </a:p>
          <a:p>
            <a:pPr>
              <a:spcAft>
                <a:spcPts val="600"/>
              </a:spcAft>
              <a:defRPr sz="1600"/>
            </a:pPr>
            <a:r>
              <a:t>• Масштабирование решения на другие процессы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 и меры митигации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500"/>
            </a:pPr>
            <a:r>
              <a:t>ТЕХНИЧЕСКИЕ РИСКИ:</a:t>
            </a:r>
          </a:p>
          <a:p>
            <a:pPr>
              <a:spcAft>
                <a:spcPts val="600"/>
              </a:spcAft>
              <a:defRPr sz="1500"/>
            </a:pPr>
            <a:r>
              <a:t>• Сложность интеграции → Поэтапное внедрение, тестирование</a:t>
            </a:r>
          </a:p>
          <a:p>
            <a:pPr>
              <a:spcAft>
                <a:spcPts val="600"/>
              </a:spcAft>
              <a:defRPr sz="1500"/>
            </a:pPr>
            <a:r>
              <a:t>• Качество AI-ответов → Обучение на корпоративных данных</a:t>
            </a:r>
          </a:p>
          <a:p>
            <a:pPr>
              <a:spcAft>
                <a:spcPts val="600"/>
              </a:spcAft>
              <a:defRPr sz="1500"/>
            </a:pPr>
            <a:r>
              <a:t>• Безопасность данных → Строгие протоколы безопасности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ОРГАНИЗАЦИОННЫЕ РИСКИ:</a:t>
            </a:r>
          </a:p>
          <a:p>
            <a:pPr>
              <a:spcAft>
                <a:spcPts val="600"/>
              </a:spcAft>
              <a:defRPr sz="1500"/>
            </a:pPr>
            <a:r>
              <a:t>• Сопротивление персонала → Программа обучения и поддержки</a:t>
            </a:r>
          </a:p>
          <a:p>
            <a:pPr>
              <a:spcAft>
                <a:spcPts val="600"/>
              </a:spcAft>
              <a:defRPr sz="1500"/>
            </a:pPr>
            <a:r>
              <a:t>• Недостаток компетенций → Привлечение экспертов, тренинги</a:t>
            </a:r>
          </a:p>
          <a:p>
            <a:pPr>
              <a:spcAft>
                <a:spcPts val="600"/>
              </a:spcAft>
              <a:defRPr sz="1500"/>
            </a:pPr>
            <a:r>
              <a:t>• Изменение процессов → Постепенная адаптация, обратная связь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ФИНАНСОВЫЕ РИСКИ:</a:t>
            </a:r>
          </a:p>
          <a:p>
            <a:pPr>
              <a:spcAft>
                <a:spcPts val="600"/>
              </a:spcAft>
              <a:defRPr sz="1500"/>
            </a:pPr>
            <a:r>
              <a:t>• Превышение бюджета → Детальное планирование, контроль</a:t>
            </a:r>
          </a:p>
          <a:p>
            <a:pPr>
              <a:spcAft>
                <a:spcPts val="600"/>
              </a:spcAft>
              <a:defRPr sz="1500"/>
            </a:pPr>
            <a:r>
              <a:t>• Задержка ROI → Фокус на быстрых победах</a:t>
            </a:r>
          </a:p>
          <a:p>
            <a:pPr>
              <a:spcAft>
                <a:spcPts val="600"/>
              </a:spcAft>
              <a:defRPr sz="1500"/>
            </a:pPr>
            <a:r>
              <a:t>• Скрытые расходы → Резерв 20% от бюджета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ОБЩАЯ ОЦЕНКА РИСКОВ: СРЕДНИЙ УРОВЕНЬ</a:t>
            </a:r>
          </a:p>
          <a:p>
            <a:pPr>
              <a:spcAft>
                <a:spcPts val="600"/>
              </a:spcAft>
              <a:defRPr sz="1500"/>
            </a:pPr>
            <a:r>
              <a:t>Все риски управляемы при правильном планировании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КЛЮЧЕВЫЕ ВЫВОДЫ:</a:t>
            </a:r>
          </a:p>
          <a:p>
            <a:pPr>
              <a:spcAft>
                <a:spcPts val="600"/>
              </a:spcAft>
              <a:defRPr sz="1600"/>
            </a:pPr>
            <a:r>
              <a:t>✓ Проект экономически обоснован (ROI 180%+ через год)</a:t>
            </a:r>
          </a:p>
          <a:p>
            <a:pPr>
              <a:spcAft>
                <a:spcPts val="600"/>
              </a:spcAft>
              <a:defRPr sz="1600"/>
            </a:pPr>
            <a:r>
              <a:t>✓ Высокий потенциал автоматизации во всех отделах</a:t>
            </a:r>
          </a:p>
          <a:p>
            <a:pPr>
              <a:spcAft>
                <a:spcPts val="600"/>
              </a:spcAft>
              <a:defRPr sz="1600"/>
            </a:pPr>
            <a:r>
              <a:t>✓ Быстрая окупаемость (точка безубыточности - 8 месяц)</a:t>
            </a:r>
          </a:p>
          <a:p>
            <a:pPr>
              <a:spcAft>
                <a:spcPts val="600"/>
              </a:spcAft>
              <a:defRPr sz="1600"/>
            </a:pPr>
            <a:r>
              <a:t>✓ Значительное повышение эффективности процессов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РЕКОМЕНДАЦИИ:</a:t>
            </a:r>
          </a:p>
          <a:p>
            <a:pPr>
              <a:spcAft>
                <a:spcPts val="600"/>
              </a:spcAft>
              <a:defRPr sz="1600"/>
            </a:pPr>
            <a:r>
              <a:t>1. НЕМЕДЛЕННО начать проект - конкурентное преимущество</a:t>
            </a:r>
          </a:p>
          <a:p>
            <a:pPr>
              <a:spcAft>
                <a:spcPts val="600"/>
              </a:spcAft>
              <a:defRPr sz="1600"/>
            </a:pPr>
            <a:r>
              <a:t>2. Начать с канцелярии (наибольший потенциал экономии)</a:t>
            </a:r>
          </a:p>
          <a:p>
            <a:pPr>
              <a:spcAft>
                <a:spcPts val="600"/>
              </a:spcAft>
              <a:defRPr sz="1600"/>
            </a:pPr>
            <a:r>
              <a:t>3. Инвестировать в обучение персонала</a:t>
            </a:r>
          </a:p>
          <a:p>
            <a:pPr>
              <a:spcAft>
                <a:spcPts val="600"/>
              </a:spcAft>
              <a:defRPr sz="1600"/>
            </a:pPr>
            <a:r>
              <a:t>4. Создать центр компетенций по AI</a:t>
            </a:r>
          </a:p>
          <a:p>
            <a:pPr>
              <a:spcAft>
                <a:spcPts val="600"/>
              </a:spcAft>
              <a:defRPr sz="1600"/>
            </a:pPr>
            <a:r>
              <a:t>5. Планировать масштабирование на другие процессы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СЛЕДУЮЩИЕ ШАГИ:</a:t>
            </a:r>
          </a:p>
          <a:p>
            <a:pPr>
              <a:spcAft>
                <a:spcPts val="600"/>
              </a:spcAft>
              <a:defRPr sz="1600"/>
            </a:pPr>
            <a:r>
              <a:t>• Утверждение проекта и бюджета</a:t>
            </a:r>
          </a:p>
          <a:p>
            <a:pPr>
              <a:spcAft>
                <a:spcPts val="600"/>
              </a:spcAft>
              <a:defRPr sz="1600"/>
            </a:pPr>
            <a:r>
              <a:t>• Формирование проектной команды</a:t>
            </a:r>
          </a:p>
          <a:p>
            <a:pPr>
              <a:spcAft>
                <a:spcPts val="600"/>
              </a:spcAft>
              <a:defRPr sz="1600"/>
            </a:pPr>
            <a:r>
              <a:t>• Начало фазы анализа и планирования</a:t>
            </a:r>
          </a:p>
          <a:p>
            <a:pPr>
              <a:spcAft>
                <a:spcPts val="600"/>
              </a:spcAft>
              <a:defRPr sz="1600"/>
            </a:pPr>
            <a:r>
              <a:t>• Выбор поставщика AI-решения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ПРОЕКТ ГОТОВ К РЕАЛИЗАЦИИ!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