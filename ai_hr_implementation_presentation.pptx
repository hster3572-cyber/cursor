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Внедрение ИИ-решений в HR-процессы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Моделирование снижения расходов и роста продуктивности</a:t>
            </a:r>
          </a:p>
          <a:p/>
          <a:p>
            <a:r>
              <a:t>Автоматизация административных задач с помощью AI-ассистента (Copilot-стиль)</a:t>
            </a:r>
          </a:p>
          <a:p/>
          <a:p>
            <a:r>
              <a:t>Generative AI / LLM технологии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Смоделировать снижение расходов после внедрения автоматизированных HR-решений</a:t>
            </a:r>
          </a:p>
          <a:p>
            <a:r>
              <a:t>• Оценить рост продуктивности по отделам (до/после)</a:t>
            </a:r>
          </a:p>
          <a:p>
            <a:r>
              <a:t>• Внедрить AI-ассистента для автоматизации административных задач</a:t>
            </a:r>
          </a:p>
          <a:p>
            <a:r>
              <a:t>• Применить технологии Generative AI / LLM (Copilot-стиль)</a:t>
            </a:r>
          </a:p>
          <a:p>
            <a:r>
              <a:t>• Охватить сферы: Канцелярия, Офис, Бэк-офис</a:t>
            </a:r>
          </a:p>
          <a:p/>
          <a:p>
            <a:r>
              <a:t>Ключевые области автоматизации:</a:t>
            </a:r>
          </a:p>
          <a:p>
            <a:r>
              <a:t>• Обработка документов и корреспонденции</a:t>
            </a:r>
          </a:p>
          <a:p>
            <a:r>
              <a:t>• Управление расписанием и встречами</a:t>
            </a:r>
          </a:p>
          <a:p>
            <a:r>
              <a:t>• HR-документооборот</a:t>
            </a:r>
          </a:p>
          <a:p>
            <a:r>
              <a:t>• Финансовая отчетность и аналитика</a:t>
            </a:r>
          </a:p>
          <a:p>
            <a:r>
              <a:t>• Клиентская поддержка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Текущее состояние по отделам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КАНЦЕЛЯРИЯ (15 сотрудников)</a:t>
            </a:r>
          </a:p>
          <a:p>
            <a:r>
              <a:t>• Средняя зарплата: 45,000 руб/мес</a:t>
            </a:r>
          </a:p>
          <a:p>
            <a:r>
              <a:t>• Операций в месяц: 1,200</a:t>
            </a:r>
          </a:p>
          <a:p>
            <a:r>
              <a:t>• Время на операцию: 0.5 часа</a:t>
            </a:r>
          </a:p>
          <a:p>
            <a:r>
              <a:t>• Потенциал автоматизации: 55%</a:t>
            </a:r>
          </a:p>
          <a:p/>
          <a:p>
            <a:r>
              <a:t>ОФИС (25 сотрудников)</a:t>
            </a:r>
          </a:p>
          <a:p>
            <a:r>
              <a:t>• Средняя зарплата: 55,000 руб/мес</a:t>
            </a:r>
          </a:p>
          <a:p>
            <a:r>
              <a:t>• Операций в месяц: 2,000</a:t>
            </a:r>
          </a:p>
          <a:p>
            <a:r>
              <a:t>• Время на операцию: 0.75 часа</a:t>
            </a:r>
          </a:p>
          <a:p>
            <a:r>
              <a:t>• Потенциал автоматизации: 45%</a:t>
            </a:r>
          </a:p>
          <a:p/>
          <a:p>
            <a:r>
              <a:t>БЭК-ОФИС (20 сотрудников)</a:t>
            </a:r>
          </a:p>
          <a:p>
            <a:r>
              <a:t>• Средняя зарплата: 60,000 руб/мес</a:t>
            </a:r>
          </a:p>
          <a:p>
            <a:r>
              <a:t>• Операций в месяц: 1,500</a:t>
            </a:r>
          </a:p>
          <a:p>
            <a:r>
              <a:t>• Время на операцию: 1.0 час</a:t>
            </a:r>
          </a:p>
          <a:p>
            <a:r>
              <a:t>• Потенциал автоматизации: 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Расходы ДО внедрения ИИ (годовые)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КАНЦЕЛЯРИЯ: 10.1 млн руб</a:t>
            </a:r>
          </a:p>
          <a:p>
            <a:r>
              <a:t>• Зарплатный фонд: 8.1 млн руб</a:t>
            </a:r>
          </a:p>
          <a:p>
            <a:r>
              <a:t>• Стоимость операций: 2.0 млн руб</a:t>
            </a:r>
          </a:p>
          <a:p/>
          <a:p>
            <a:r>
              <a:t>ОФИС: 22.7 млн руб</a:t>
            </a:r>
          </a:p>
          <a:p>
            <a:r>
              <a:t>• Зарплатный фонд: 16.5 млн руб</a:t>
            </a:r>
          </a:p>
          <a:p>
            <a:r>
              <a:t>• Стоимость операций: 6.2 млн руб</a:t>
            </a:r>
          </a:p>
          <a:p/>
          <a:p>
            <a:r>
              <a:t>БЭК-ОФИС: 21.2 млн руб</a:t>
            </a:r>
          </a:p>
          <a:p>
            <a:r>
              <a:t>• Зарплатный фонд: 14.4 млн руб</a:t>
            </a:r>
          </a:p>
          <a:p>
            <a:r>
              <a:t>• Стоимость операций: 6.8 млн руб</a:t>
            </a:r>
          </a:p>
          <a:p/>
          <a:p>
            <a:r>
              <a:t>ОБЩИЕ РАСХОДЫ: 54.0 млн руб/год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Экономия ПОСЛЕ внедрения 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КАНЦЕЛЯРИЯ: 1.59 млн руб/год</a:t>
            </a:r>
          </a:p>
          <a:p>
            <a:r>
              <a:t>• ROI: 15.7%</a:t>
            </a:r>
          </a:p>
          <a:p>
            <a:r>
              <a:t>• Сокращение персонала: 2 человека</a:t>
            </a:r>
          </a:p>
          <a:p>
            <a:r>
              <a:t>• Экономия времени: 231 час/месяц</a:t>
            </a:r>
          </a:p>
          <a:p/>
          <a:p>
            <a:r>
              <a:t>ОФИС: 3.48 млн руб/год</a:t>
            </a:r>
          </a:p>
          <a:p>
            <a:r>
              <a:t>• ROI: 15.3%</a:t>
            </a:r>
          </a:p>
          <a:p>
            <a:r>
              <a:t>• Сокращение персонала: 3 человека</a:t>
            </a:r>
          </a:p>
          <a:p>
            <a:r>
              <a:t>• Экономия времени: 472 часа/месяц</a:t>
            </a:r>
          </a:p>
          <a:p/>
          <a:p>
            <a:r>
              <a:t>БЭК-ОФИС: 4.63 млн руб/год</a:t>
            </a:r>
          </a:p>
          <a:p>
            <a:r>
              <a:t>• ROI: 21.9%</a:t>
            </a:r>
          </a:p>
          <a:p>
            <a:r>
              <a:t>• Сокращение персонала: 3 человека</a:t>
            </a:r>
          </a:p>
          <a:p>
            <a:r>
              <a:t>• Экономия времени: 630 часов/месяц</a:t>
            </a:r>
          </a:p>
          <a:p/>
          <a:p>
            <a:r>
              <a:t>ОБЩАЯ ЭКОНОМИЯ: 9.7 млн руб/год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Стоимость внедрения 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ЕДИНОВРЕМЕННЫЕ РАСХОДЫ: 1.55 млн руб</a:t>
            </a:r>
          </a:p>
          <a:p>
            <a:r>
              <a:t>• Лицензии на ИИ-платформы: 500,000 руб</a:t>
            </a:r>
          </a:p>
          <a:p>
            <a:r>
              <a:t>• Интеграция с системами: 300,000 руб</a:t>
            </a:r>
          </a:p>
          <a:p>
            <a:r>
              <a:t>• Обучение персонала: 200,000 руб</a:t>
            </a:r>
          </a:p>
          <a:p>
            <a:r>
              <a:t>• Консультационные услуги: 400,000 руб</a:t>
            </a:r>
          </a:p>
          <a:p>
            <a:r>
              <a:t>• Дополнительное оборудование: 150,000 руб</a:t>
            </a:r>
          </a:p>
          <a:p/>
          <a:p>
            <a:r>
              <a:t>ЕЖЕМЕСЯЧНЫЕ РАСХОДЫ: 90,000 руб</a:t>
            </a:r>
          </a:p>
          <a:p>
            <a:r>
              <a:t>• Лицензии: 50,000 руб/мес</a:t>
            </a:r>
          </a:p>
          <a:p>
            <a:r>
              <a:t>• Техподдержка: 25,000 руб/мес</a:t>
            </a:r>
          </a:p>
          <a:p>
            <a:r>
              <a:t>• Обслуживание: 15,000 руб/мес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окупаемости инвестиций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КЛЮЧЕВЫЕ ПОКАЗАТЕЛИ:</a:t>
            </a:r>
          </a:p>
          <a:p>
            <a:r>
              <a:t>• Стоимость внедрения: 1,550,000 руб</a:t>
            </a:r>
          </a:p>
          <a:p>
            <a:r>
              <a:t>• Годовая экономия: 9,702,750 руб</a:t>
            </a:r>
          </a:p>
          <a:p>
            <a:r>
              <a:t>• Период окупаемости: 1.9 месяца</a:t>
            </a:r>
          </a:p>
          <a:p>
            <a:r>
              <a:t>• 5-летний ROI: 3,030%</a:t>
            </a:r>
          </a:p>
          <a:p>
            <a:r>
              <a:t>• Общая экономия за 5 лет: 48.5 млн руб</a:t>
            </a:r>
          </a:p>
          <a:p/>
          <a:p>
            <a:r>
              <a:t>ПРЕИМУЩЕСТВА:</a:t>
            </a:r>
          </a:p>
          <a:p>
            <a:r>
              <a:t>• Быстрая окупаемость (менее 2 месяцев)</a:t>
            </a:r>
          </a:p>
          <a:p>
            <a:r>
              <a:t>• Высокая рентабельность инвестиций</a:t>
            </a:r>
          </a:p>
          <a:p>
            <a:r>
              <a:t>• Значительное сокращение операционных расходов</a:t>
            </a:r>
          </a:p>
          <a:p>
            <a:r>
              <a:t>• Повышение качества и скорости обработки данных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внедрения (16 месяцев)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ЭТАПЫ ВНЕДРЕНИЯ:</a:t>
            </a:r>
          </a:p>
          <a:p/>
          <a:p>
            <a:r>
              <a:t>1. Подготовка и планирование (0-2 мес) - 200,000 руб</a:t>
            </a:r>
          </a:p>
          <a:p>
            <a:r>
              <a:t>2. Выбор ИИ-платформы (2-5 мес) - 400,000 руб</a:t>
            </a:r>
          </a:p>
          <a:p>
            <a:r>
              <a:t>3. Интеграция с системами (4-8 мес) - 300,000 руб</a:t>
            </a:r>
          </a:p>
          <a:p>
            <a:r>
              <a:t>4. Обучение персонала (6-8 мес) - 200,000 руб</a:t>
            </a:r>
          </a:p>
          <a:p>
            <a:r>
              <a:t>5. Пилотное внедрение в Канцелярии (8-10 мес) - 150,000 руб</a:t>
            </a:r>
          </a:p>
          <a:p>
            <a:r>
              <a:t>6. Внедрение в Офис (10-12 мес) - 200,000 руб</a:t>
            </a:r>
          </a:p>
          <a:p>
            <a:r>
              <a:t>7. Внедрение в Бэк-офис (12-14 мес) - 200,000 руб</a:t>
            </a:r>
          </a:p>
          <a:p>
            <a:r>
              <a:t>8. Оптимизация и масштабирование (14-16 мес) - 100,000 руб</a:t>
            </a:r>
          </a:p>
          <a:p/>
          <a:p>
            <a:r>
              <a:t>ОБЩАЯ СТОИМОСТЬ: 1,550,000 руб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метрики эффективности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 ОТДЕЛАМ:</a:t>
            </a:r>
          </a:p>
          <a:p>
            <a:r>
              <a:t>• Канцелярия: ROI 15.7%, экономия 1.59 млн руб/год</a:t>
            </a:r>
          </a:p>
          <a:p>
            <a:r>
              <a:t>• Офис: ROI 15.3%, экономия 3.48 млн руб/год</a:t>
            </a:r>
          </a:p>
          <a:p>
            <a:r>
              <a:t>• Бэк-офис: ROI 21.9%, экономия 4.63 млн руб/год</a:t>
            </a:r>
          </a:p>
          <a:p/>
          <a:p>
            <a:r>
              <a:t>ОБЩИЕ ПОКАЗАТЕЛИ:</a:t>
            </a:r>
          </a:p>
          <a:p>
            <a:r>
              <a:t>• Сокращение персонала: 8 человек (13.3%)</a:t>
            </a:r>
          </a:p>
          <a:p>
            <a:r>
              <a:t>• Экономия времени: 1,333 часа/месяц</a:t>
            </a:r>
          </a:p>
          <a:p>
            <a:r>
              <a:t>• Снижение операционных расходов: 18%</a:t>
            </a:r>
          </a:p>
          <a:p>
            <a:r>
              <a:t>• Повышение точности обработки: 30-50%</a:t>
            </a:r>
          </a:p>
          <a:p>
            <a:r>
              <a:t>• Улучшение качества обслуживания клиентов</a:t>
            </a:r>
          </a:p>
          <a:p/>
          <a:p>
            <a:r>
              <a:t>РИСКИ И МИТИГАЦИЯ:</a:t>
            </a:r>
          </a:p>
          <a:p>
            <a:r>
              <a:t>• Сопротивление персонала → Обучение и вовлечение</a:t>
            </a:r>
          </a:p>
          <a:p>
            <a:r>
              <a:t>• Технические сложности → Поэтапное внедрение</a:t>
            </a:r>
          </a:p>
          <a:p>
            <a:r>
              <a:t>• Изменение процессов → Адаптивное управление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ВЫВОДЫ:</a:t>
            </a:r>
          </a:p>
          <a:p>
            <a:r>
              <a:t>• Внедрение ИИ-решений экономически обосновано</a:t>
            </a:r>
          </a:p>
          <a:p>
            <a:r>
              <a:t>• Период окупаемости составляет менее 2 месяцев</a:t>
            </a:r>
          </a:p>
          <a:p>
            <a:r>
              <a:t>• 5-летний ROI превышает 3000%</a:t>
            </a:r>
          </a:p>
          <a:p>
            <a:r>
              <a:t>• Максимальный эффект в Бэк-офисе (ROI 21.9%)</a:t>
            </a:r>
          </a:p>
          <a:p/>
          <a:p>
            <a:r>
              <a:t>РЕКОМЕНДАЦИИ:</a:t>
            </a:r>
          </a:p>
          <a:p>
            <a:r>
              <a:t>1. Начать с пилотного проекта в Канцелярии</a:t>
            </a:r>
          </a:p>
          <a:p>
            <a:r>
              <a:t>2. Поэтапно внедрять в остальные отделы</a:t>
            </a:r>
          </a:p>
          <a:p>
            <a:r>
              <a:t>3. Обеспечить качественное обучение персонала</a:t>
            </a:r>
          </a:p>
          <a:p>
            <a:r>
              <a:t>4. Настроить мониторинг ключевых метрик</a:t>
            </a:r>
          </a:p>
          <a:p>
            <a:r>
              <a:t>5. Планировать масштабирование на другие процессы</a:t>
            </a:r>
          </a:p>
          <a:p/>
          <a:p>
            <a:r>
              <a:t>СЛЕДУЮЩИЕ ШАГИ:</a:t>
            </a:r>
          </a:p>
          <a:p>
            <a:r>
              <a:t>• Утверждение бюджета и плана внедрения</a:t>
            </a:r>
          </a:p>
          <a:p>
            <a:r>
              <a:t>• Выбор ИИ-платформы и поставщика</a:t>
            </a:r>
          </a:p>
          <a:p>
            <a:r>
              <a:t>• Формирование проектной команды</a:t>
            </a:r>
          </a:p>
          <a:p>
            <a:r>
              <a:t>• Начало подготовительных работ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