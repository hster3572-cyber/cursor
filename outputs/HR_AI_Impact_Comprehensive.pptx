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Внедрение AI-ассистента для автоматизации административных задач HR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Финансовая модель снижения расходов и роста продуктивности</a:t>
            </a:r>
          </a:p>
          <a:p>
            <a:r>
              <a:t>Анализ до/после по отделам •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Резюме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Цель проекта</a:t>
            </a:r>
          </a:p>
          <a:p>
            <a:pPr lvl="1"/>
            <a:r>
              <a:t>Сокращение затрат на административные задачи</a:t>
            </a:r>
          </a:p>
          <a:p>
            <a:pPr lvl="1"/>
            <a:r>
              <a:t>Повышение производительности сотрудников</a:t>
            </a:r>
          </a:p>
          <a:p>
            <a:pPr lvl="1"/>
            <a:r>
              <a:t>Улучшение качества работы и удовлетворенности персонала</a:t>
            </a:r>
          </a:p>
          <a:p>
            <a:pPr/>
          </a:p>
          <a:p>
            <a:pPr/>
            <a:r>
              <a:t>Решение: AI-ассистент (Copilot-стиль)</a:t>
            </a:r>
          </a:p>
          <a:p>
            <a:pPr lvl="1"/>
            <a:r>
              <a:t>Generative AI / Large Language Models (LLM)</a:t>
            </a:r>
          </a:p>
          <a:p>
            <a:pPr lvl="1"/>
            <a:r>
              <a:t>Применение: канцелярия, офис, бэк-офис</a:t>
            </a:r>
          </a:p>
          <a:p>
            <a:pPr lvl="1"/>
            <a:r>
              <a:t>Технология: Microsoft 365 Copilot или аналог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финансовые показатели (12 месяцев)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💰 Суммарная выгода: $979,771</a:t>
            </a:r>
          </a:p>
          <a:p>
            <a:pPr/>
            <a:r>
              <a:t>💸 Суммарные затраты: $140,618</a:t>
            </a:r>
          </a:p>
          <a:p>
            <a:pPr/>
            <a:r>
              <a:t>📈 Чистая выгода: $839,153</a:t>
            </a:r>
          </a:p>
          <a:p>
            <a:pPr/>
            <a:r>
              <a:t>📊 ROI (окупаемость): 596.8%</a:t>
            </a:r>
          </a:p>
          <a:p>
            <a:pPr/>
            <a:r>
              <a:t>⏱ Средний срок окупаемости: 3-5 месяцев</a:t>
            </a:r>
          </a:p>
          <a:p>
            <a:pPr/>
            <a:r>
              <a:t>🎯 NPV (чистая приведенная стоимость): $788,068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Анализ применения ИИ в административных HR-задачах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Мировые тренды и исследования</a:t>
            </a:r>
          </a:p>
          <a:p>
            <a:pPr lvl="1"/>
            <a:r>
              <a:t>McKinsey: 30% рабочего времени может быть автоматизировано с помощью ИИ</a:t>
            </a:r>
          </a:p>
          <a:p>
            <a:pPr lvl="1"/>
            <a:r>
              <a:t>Gartner: 70% компаний внедрят ИИ-ассистентов к 2025 году</a:t>
            </a:r>
          </a:p>
          <a:p>
            <a:pPr lvl="1"/>
            <a:r>
              <a:t>Microsoft: Copilot увеличивает продуктивность на 29% в среднем</a:t>
            </a:r>
          </a:p>
          <a:p>
            <a:pPr/>
          </a:p>
          <a:p>
            <a:pPr/>
            <a:r>
              <a:t>Примеры успешного применения</a:t>
            </a:r>
          </a:p>
          <a:p>
            <a:pPr lvl="1"/>
            <a:r>
              <a:t>Автоматизация составления документов и отчетов</a:t>
            </a:r>
          </a:p>
          <a:p>
            <a:pPr lvl="1"/>
            <a:r>
              <a:t>Интеллектуальный поиск и анализ данных</a:t>
            </a:r>
          </a:p>
          <a:p>
            <a:pPr lvl="1"/>
            <a:r>
              <a:t>Автоответы на типовые запросы сотрудников</a:t>
            </a:r>
          </a:p>
          <a:p>
            <a:pPr lvl="1"/>
            <a:r>
              <a:t>Помощь в планировании и составлении презентаций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Сценарии использования AI-ассистента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HR отдел (35% времени на админ. задачах)</a:t>
            </a:r>
          </a:p>
          <a:p>
            <a:pPr lvl="1"/>
            <a:r>
              <a:t>Составление должностных инструкций</a:t>
            </a:r>
          </a:p>
          <a:p>
            <a:pPr lvl="1"/>
            <a:r>
              <a:t>Анализ резюме и подбор кандидатов</a:t>
            </a:r>
          </a:p>
          <a:p>
            <a:pPr lvl="1"/>
            <a:r>
              <a:t>Подготовка HR-отчетности</a:t>
            </a:r>
          </a:p>
          <a:p>
            <a:pPr/>
          </a:p>
          <a:p>
            <a:pPr/>
            <a:r>
              <a:t>Финансовый отдел (30% времени)</a:t>
            </a:r>
          </a:p>
          <a:p>
            <a:pPr lvl="1"/>
            <a:r>
              <a:t>Автоматизация финансовых отчетов</a:t>
            </a:r>
          </a:p>
          <a:p>
            <a:pPr lvl="1"/>
            <a:r>
              <a:t>Анализ данных и бюджетирование</a:t>
            </a:r>
          </a:p>
          <a:p>
            <a:pPr lvl="1"/>
            <a:r>
              <a:t>Подготовка презентаций для руководства</a:t>
            </a:r>
          </a:p>
          <a:p>
            <a:pPr/>
          </a:p>
          <a:p>
            <a:pPr/>
            <a:r>
              <a:t>IT отдел (25% времени)</a:t>
            </a:r>
          </a:p>
          <a:p>
            <a:pPr lvl="1"/>
            <a:r>
              <a:t>Документирование систем и процессов</a:t>
            </a:r>
          </a:p>
          <a:p>
            <a:pPr lvl="1"/>
            <a:r>
              <a:t>Анализ логов и диагностика</a:t>
            </a:r>
          </a:p>
          <a:p>
            <a:pPr lvl="1"/>
            <a:r>
              <a:t>Подготовка технической документации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Динамика выгод и затрат (12 месяцев)</a:t>
            </a:r>
          </a:p>
        </p:txBody>
      </p:sp>
      <p:pic>
        <p:nvPicPr>
          <p:cNvPr id="3" name="Picture 2" descr="roi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Выгода по отделам за 12 месяцев</a:t>
            </a:r>
          </a:p>
        </p:txBody>
      </p:sp>
      <p:pic>
        <p:nvPicPr>
          <p:cNvPr id="3" name="Picture 2" descr="benefit_by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затрат на внедрение</a:t>
            </a:r>
          </a:p>
        </p:txBody>
      </p:sp>
      <p:pic>
        <p:nvPicPr>
          <p:cNvPr id="3" name="Picture 2" descr="cost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Детальные показатели по отделам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29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Отдел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Польз.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Выгода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Затраты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Чистая выгода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Окупаемость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$204,375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$16,827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$187,548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мес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$216,562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$19,446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$197,116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мес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$20,545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$208,955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мес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$196,000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$20,154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$175,846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мес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Legal/Admin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$133,333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$13,646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$119,687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мес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'До' и 'После' внедрения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ДО внедрения AI-ассистента</a:t>
            </a:r>
          </a:p>
          <a:p>
            <a:pPr lvl="1"/>
            <a:r>
              <a:t>Время на админ. задачи: 20-40% рабочего времени</a:t>
            </a:r>
          </a:p>
          <a:p>
            <a:pPr lvl="1"/>
            <a:r>
              <a:t>Ручное составление документов и отчетов</a:t>
            </a:r>
          </a:p>
          <a:p>
            <a:pPr lvl="1"/>
            <a:r>
              <a:t>Низкая скорость обработки типовых запросов</a:t>
            </a:r>
          </a:p>
          <a:p>
            <a:pPr lvl="1"/>
            <a:r>
              <a:t>Высокая нагрузка на квалифицированных специалистов</a:t>
            </a:r>
          </a:p>
          <a:p>
            <a:pPr/>
          </a:p>
          <a:p>
            <a:pPr/>
            <a:r>
              <a:t>ПОСЛЕ внедрения AI-ассистента</a:t>
            </a:r>
          </a:p>
          <a:p>
            <a:pPr lvl="1"/>
            <a:r>
              <a:t>Экономия времени: 25-40% админ. задач автоматизированы</a:t>
            </a:r>
          </a:p>
          <a:p>
            <a:pPr lvl="1"/>
            <a:r>
              <a:t>Рост продуктивности: 6-12% на core-задачах</a:t>
            </a:r>
          </a:p>
          <a:p>
            <a:pPr lvl="1"/>
            <a:r>
              <a:t>Быстрые ответы на типовые запросы</a:t>
            </a:r>
          </a:p>
          <a:p>
            <a:pPr lvl="1"/>
            <a:r>
              <a:t>Освобождение времени для стратегических задач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внедрения (Диаграмма Ганта)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972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Этапы внедрения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Фаза 1: Подготовка и закупка (Месяц 1)</a:t>
            </a:r>
          </a:p>
          <a:p>
            <a:pPr lvl="1"/>
            <a:r>
              <a:t>Выбор платформы (Microsoft 365 Copilot или аналог)</a:t>
            </a:r>
          </a:p>
          <a:p>
            <a:pPr lvl="1"/>
            <a:r>
              <a:t>Закупка лицензий</a:t>
            </a:r>
          </a:p>
          <a:p>
            <a:pPr lvl="1"/>
            <a:r>
              <a:t>Подготовка инфраструктуры</a:t>
            </a:r>
          </a:p>
          <a:p>
            <a:pPr/>
          </a:p>
          <a:p>
            <a:pPr/>
            <a:r>
              <a:t>Фаза 2: Пилотное внедрение (Месяцы 2-4)</a:t>
            </a:r>
          </a:p>
          <a:p>
            <a:pPr lvl="1"/>
            <a:r>
              <a:t>Запуск в HR, Finance и IT отделах</a:t>
            </a:r>
          </a:p>
          <a:p>
            <a:pPr lvl="1"/>
            <a:r>
              <a:t>Обучение первой волны пользователей</a:t>
            </a:r>
          </a:p>
          <a:p>
            <a:pPr lvl="1"/>
            <a:r>
              <a:t>Сбор обратной связи</a:t>
            </a:r>
          </a:p>
          <a:p>
            <a:pPr/>
          </a:p>
          <a:p>
            <a:pPr/>
            <a:r>
              <a:t>Фаза 3: Масштабирование (Месяцы 5-7)</a:t>
            </a:r>
          </a:p>
          <a:p>
            <a:pPr lvl="1"/>
            <a:r>
              <a:t>Внедрение в Operations и Legal/Admin</a:t>
            </a:r>
          </a:p>
          <a:p>
            <a:pPr lvl="1"/>
            <a:r>
              <a:t>Масштабное обучение</a:t>
            </a:r>
          </a:p>
          <a:p>
            <a:pPr/>
          </a:p>
          <a:p>
            <a:pPr/>
            <a:r>
              <a:t>Фаза 4: Оптимизация (Месяцы 8-12)</a:t>
            </a:r>
          </a:p>
          <a:p>
            <a:pPr lvl="1"/>
            <a:r>
              <a:t>Мониторинг и улучшение процессов</a:t>
            </a:r>
          </a:p>
          <a:p>
            <a:pPr lvl="1"/>
            <a:r>
              <a:t>Достижение полной эффективности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допущения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Стоимость и лицензирование</a:t>
            </a:r>
          </a:p>
          <a:p>
            <a:pPr lvl="1"/>
            <a:r>
              <a:t>Лицензия: $30/пользователь/месяц (Microsoft 365 Copilot)</a:t>
            </a:r>
          </a:p>
          <a:p>
            <a:pPr lvl="1"/>
            <a:r>
              <a:t>Фиксированные затраты на внедрение: $50,000</a:t>
            </a:r>
          </a:p>
          <a:p>
            <a:pPr lvl="1"/>
            <a:r>
              <a:t>Управление изменениями: $5,000 на отдел</a:t>
            </a:r>
          </a:p>
          <a:p>
            <a:pPr lvl="1"/>
            <a:r>
              <a:t>Обучение: 4 часа на пользователя</a:t>
            </a:r>
          </a:p>
          <a:p>
            <a:pPr/>
          </a:p>
          <a:p>
            <a:pPr/>
            <a:r>
              <a:t>Операционные показатели</a:t>
            </a:r>
          </a:p>
          <a:p>
            <a:pPr lvl="1"/>
            <a:r>
              <a:t>Доля административного времени: 20-40% в зависимости от отдела</a:t>
            </a:r>
          </a:p>
          <a:p>
            <a:pPr lvl="1"/>
            <a:r>
              <a:t>Покрытие автоматизации: 25-40% админ. задач</a:t>
            </a:r>
          </a:p>
          <a:p>
            <a:pPr lvl="1"/>
            <a:r>
              <a:t>Рост продуктивности: 6-12% на core-задачах</a:t>
            </a:r>
          </a:p>
          <a:p>
            <a:pPr lvl="1"/>
            <a:r>
              <a:t>Монетизация продуктивности: 50% в первый год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Бенчмарки и реальные примеры из индустрии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Microsoft (внутреннее исследование Copilot, 2024)</a:t>
            </a:r>
          </a:p>
          <a:p>
            <a:pPr lvl="1"/>
            <a:r>
              <a:t>70% пользователей отмечают рост продуктивности</a:t>
            </a:r>
          </a:p>
          <a:p>
            <a:pPr lvl="1"/>
            <a:r>
              <a:t>Экономия 10+ часов в месяц на рутинных задачах</a:t>
            </a:r>
          </a:p>
          <a:p>
            <a:pPr/>
          </a:p>
          <a:p>
            <a:pPr/>
            <a:r>
              <a:t>Deloitte (исследование ИИ в HR, 2024)</a:t>
            </a:r>
          </a:p>
          <a:p>
            <a:pPr lvl="1"/>
            <a:r>
              <a:t>Сокращение времени на рекрутинг на 40%</a:t>
            </a:r>
          </a:p>
          <a:p>
            <a:pPr lvl="1"/>
            <a:r>
              <a:t>Улучшение качества найма на 25%</a:t>
            </a:r>
          </a:p>
          <a:p>
            <a:pPr/>
          </a:p>
          <a:p>
            <a:pPr/>
            <a:r>
              <a:t>IBM (внедрение Watson, 2023)</a:t>
            </a:r>
          </a:p>
          <a:p>
            <a:pPr lvl="1"/>
            <a:r>
              <a:t>Экономия $50M на HR-процессах</a:t>
            </a:r>
          </a:p>
          <a:p>
            <a:pPr lvl="1"/>
            <a:r>
              <a:t>Обработка 95% типовых запросов автоматически</a:t>
            </a:r>
          </a:p>
          <a:p>
            <a:pPr/>
          </a:p>
          <a:p>
            <a:pPr/>
            <a:r>
              <a:t>Источники: Microsoft Work Trend Index 2024, Deloitte Global HR Trends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Риски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Ключевые риски</a:t>
            </a:r>
          </a:p>
          <a:p>
            <a:pPr lvl="1"/>
            <a:r>
              <a:t>Низкий уровень принятия пользователями</a:t>
            </a:r>
          </a:p>
          <a:p>
            <a:pPr lvl="1"/>
            <a:r>
              <a:t>Проблемы с качеством и безопасностью данных</a:t>
            </a:r>
          </a:p>
          <a:p>
            <a:pPr lvl="1"/>
            <a:r>
              <a:t>Сопротивление изменениям</a:t>
            </a:r>
          </a:p>
          <a:p>
            <a:pPr lvl="1"/>
            <a:r>
              <a:t>Недостаточное обучение персонала</a:t>
            </a:r>
          </a:p>
          <a:p>
            <a:pPr/>
          </a:p>
          <a:p>
            <a:pPr/>
            <a:r>
              <a:t>Рекомендации по минимизации рисков</a:t>
            </a:r>
          </a:p>
          <a:p>
            <a:pPr lvl="1"/>
            <a:r>
              <a:t>Активная программа управления изменениями</a:t>
            </a:r>
          </a:p>
          <a:p>
            <a:pPr lvl="1"/>
            <a:r>
              <a:t>Качественное обучение и поддержка пользователей</a:t>
            </a:r>
          </a:p>
          <a:p>
            <a:pPr lvl="1"/>
            <a:r>
              <a:t>Постепенное внедрение (пилот → масштабирование)</a:t>
            </a:r>
          </a:p>
          <a:p>
            <a:pPr lvl="1"/>
            <a:r>
              <a:t>Регулярный мониторинг и сбор обратной связи</a:t>
            </a:r>
          </a:p>
          <a:p>
            <a:pPr lvl="1"/>
            <a:r>
              <a:t>Обеспечение безопасности и конфиденциальности данных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и метрики успеха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📊 Уровень принятия (Adoption Rate): целевой показатель 80%+ за 6 месяцев</a:t>
            </a:r>
          </a:p>
          <a:p>
            <a:pPr/>
            <a:r>
              <a:t>⏱ Экономия времени: 10+ часов/месяц на пользователя</a:t>
            </a:r>
          </a:p>
          <a:p>
            <a:pPr/>
            <a:r>
              <a:t>💰 ROI: достижение положительного ROI к 4-5 месяцу</a:t>
            </a:r>
          </a:p>
          <a:p>
            <a:pPr/>
            <a:r>
              <a:t>😊 Удовлетворенность пользователей: NPS &gt; 40</a:t>
            </a:r>
          </a:p>
          <a:p>
            <a:pPr/>
            <a:r>
              <a:t>📈 Рост продуктивности: измеримое улучшение output на 8-12%</a:t>
            </a:r>
          </a:p>
          <a:p>
            <a:pPr/>
            <a:r>
              <a:t>🎯 Качество работы: снижение ошибок на 20-30%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Финансовое обоснование</a:t>
            </a:r>
          </a:p>
          <a:p>
            <a:pPr lvl="1"/>
            <a:r>
              <a:t>Очень высокая окупаемость: ROI 597% за 12 месяцев</a:t>
            </a:r>
          </a:p>
          <a:p>
            <a:pPr lvl="1"/>
            <a:r>
              <a:t>Быстрая окупаемость: 3-5 месяцев в зависимости от отдела</a:t>
            </a:r>
          </a:p>
          <a:p>
            <a:pPr lvl="1"/>
            <a:r>
              <a:t>Чистая выгода: $839,153 за первый год</a:t>
            </a:r>
          </a:p>
          <a:p>
            <a:pPr/>
          </a:p>
          <a:p>
            <a:pPr/>
            <a:r>
              <a:t>Стратегическая ценность</a:t>
            </a:r>
          </a:p>
          <a:p>
            <a:pPr lvl="1"/>
            <a:r>
              <a:t>Освобождение времени для стратегических задач</a:t>
            </a:r>
          </a:p>
          <a:p>
            <a:pPr lvl="1"/>
            <a:r>
              <a:t>Повышение удовлетворенности сотрудников</a:t>
            </a:r>
          </a:p>
          <a:p>
            <a:pPr lvl="1"/>
            <a:r>
              <a:t>Конкурентное преимущество в эпоху цифровизации</a:t>
            </a:r>
          </a:p>
          <a:p>
            <a:pPr/>
          </a:p>
          <a:p>
            <a:pPr/>
            <a:r>
              <a:t>Рекомендация: ОДОБРИТЬ проект к реализации</a:t>
            </a:r>
          </a:p>
          <a:p>
            <a:pPr lvl="1"/>
            <a:r>
              <a:t>Начать с пилотного внедрения в Q1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Следующие шаги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1️⃣ Утверждение бюджета и получение одобрения руководства</a:t>
            </a:r>
          </a:p>
          <a:p>
            <a:pPr/>
            <a:r>
              <a:t>2️⃣ Выбор платформы и заключение договора с поставщиком</a:t>
            </a:r>
          </a:p>
          <a:p>
            <a:pPr/>
            <a:r>
              <a:t>3️⃣ Формирование проектной команды и назначение владельца проекта</a:t>
            </a:r>
          </a:p>
          <a:p>
            <a:pPr/>
            <a:r>
              <a:t>4️⃣ Подготовка инфраструктуры и плана обучения</a:t>
            </a:r>
          </a:p>
          <a:p>
            <a:pPr/>
            <a:r>
              <a:t>5️⃣ Запуск пилота в выбранных отделах (Месяц 1-2)</a:t>
            </a:r>
          </a:p>
          <a:p>
            <a:pPr/>
            <a:r>
              <a:t>6️⃣ Оценка результатов пилота и корректировка плана</a:t>
            </a:r>
          </a:p>
          <a:p>
            <a:pPr/>
            <a:r>
              <a:t>7️⃣ Масштабирование на всю организацию (Месяцы 3-12)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