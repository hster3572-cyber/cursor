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Внедрение AI-ассистента в HR-процессы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95959"/>
                </a:solidFill>
              </a:defRPr>
            </a:pPr>
            <a:r>
              <a:t>Моделирование снижения расходов и роста продуктивности</a:t>
            </a:r>
          </a:p>
          <a:p/>
          <a:p>
            <a:r>
              <a:t>Анализ эффективности внедрения Generative AI / LLM (Copilot-стиль)</a:t>
            </a:r>
          </a:p>
          <a:p>
            <a:r>
              <a:t>в сферах: Канцелярия, офис, бэк-офис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Программа презентации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 b="1"/>
            </a:pPr>
            <a:r>
              <a:t>1. Анализ текущего состояния HR-процессов</a:t>
            </a:r>
          </a:p>
          <a:p>
            <a:pPr>
              <a:spcAft>
                <a:spcPts val="1200"/>
              </a:spcAft>
              <a:defRPr sz="1800" b="1"/>
            </a:pPr>
            <a:r>
              <a:t>2. Технологическое решение: AI-ассистент</a:t>
            </a:r>
          </a:p>
          <a:p>
            <a:pPr>
              <a:spcAft>
                <a:spcPts val="1200"/>
              </a:spcAft>
              <a:defRPr sz="1800" b="1"/>
            </a:pPr>
            <a:r>
              <a:t>3. Финансовая модель и ROI</a:t>
            </a:r>
          </a:p>
          <a:p>
            <a:pPr>
              <a:spcAft>
                <a:spcPts val="1200"/>
              </a:spcAft>
              <a:defRPr sz="1800" b="1"/>
            </a:pPr>
            <a:r>
              <a:t>4. Анализ по отделам</a:t>
            </a:r>
          </a:p>
          <a:p>
            <a:pPr>
              <a:spcAft>
                <a:spcPts val="1200"/>
              </a:spcAft>
              <a:defRPr sz="1800" b="1"/>
            </a:pPr>
            <a:r>
              <a:t>5. План внедрения (Диаграмма Ганта)</a:t>
            </a:r>
          </a:p>
          <a:p>
            <a:pPr>
              <a:spcAft>
                <a:spcPts val="1200"/>
              </a:spcAft>
              <a:defRPr sz="1800" b="1"/>
            </a:pPr>
            <a:r>
              <a:t>6. Ожидаемые результаты и риски</a:t>
            </a:r>
          </a:p>
          <a:p>
            <a:pPr>
              <a:spcAft>
                <a:spcPts val="1200"/>
              </a:spcAft>
              <a:defRPr sz="1800" b="1"/>
            </a:pPr>
            <a:r>
              <a:t>7. Рекомендации и следующие шаги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Текущее состояние HR-процессов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• 60% времени тратится на рутинные задачи</a:t>
            </a:r>
          </a:p>
          <a:p>
            <a:pPr>
              <a:spcAft>
                <a:spcPts val="800"/>
              </a:spcAft>
              <a:defRPr sz="1600"/>
            </a:pPr>
            <a:r>
              <a:t>• Высокая нагрузка на HR-специалистов</a:t>
            </a:r>
          </a:p>
          <a:p>
            <a:pPr>
              <a:spcAft>
                <a:spcPts val="800"/>
              </a:spcAft>
              <a:defRPr sz="1600"/>
            </a:pPr>
            <a:r>
              <a:t>• Медленная обработка документов</a:t>
            </a:r>
          </a:p>
          <a:p>
            <a:pPr>
              <a:spcAft>
                <a:spcPts val="800"/>
              </a:spcAft>
              <a:defRPr sz="1600"/>
            </a:pPr>
            <a:r>
              <a:t>• Ошибки в ручном вводе данных</a:t>
            </a:r>
          </a:p>
          <a:p>
            <a:pPr>
              <a:spcAft>
                <a:spcPts val="800"/>
              </a:spcAft>
              <a:defRPr sz="1600"/>
            </a:pPr>
            <a:r>
              <a:t>• Недостаток времени на стратегические задачи</a:t>
            </a:r>
          </a:p>
          <a:p>
            <a:pPr>
              <a:spcAft>
                <a:spcPts val="800"/>
              </a:spcAft>
              <a:defRPr sz="1600"/>
            </a:pPr>
            <a:r>
              <a:t>• Дублирование работы между отделами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• HR-команда: 8 человек</a:t>
            </a:r>
          </a:p>
          <a:p>
            <a:pPr>
              <a:spcAft>
                <a:spcPts val="800"/>
              </a:spcAft>
              <a:defRPr sz="1600"/>
            </a:pPr>
            <a:r>
              <a:t>• Годовые затраты: 960,000 руб</a:t>
            </a:r>
          </a:p>
          <a:p>
            <a:pPr>
              <a:spcAft>
                <a:spcPts val="800"/>
              </a:spcAft>
              <a:defRPr sz="1600"/>
            </a:pPr>
            <a:r>
              <a:t>• Время на документооборот: 40%</a:t>
            </a:r>
          </a:p>
          <a:p>
            <a:pPr>
              <a:spcAft>
                <a:spcPts val="800"/>
              </a:spcAft>
              <a:defRPr sz="1600"/>
            </a:pPr>
            <a:r>
              <a:t>• Время на коммуникацию: 25%</a:t>
            </a:r>
          </a:p>
          <a:p>
            <a:pPr>
              <a:spcAft>
                <a:spcPts val="800"/>
              </a:spcAft>
              <a:defRPr sz="1600"/>
            </a:pPr>
            <a:r>
              <a:t>• Время на аналитику: 20%</a:t>
            </a:r>
          </a:p>
          <a:p>
            <a:pPr>
              <a:spcAft>
                <a:spcPts val="800"/>
              </a:spcAft>
              <a:defRPr sz="1600"/>
            </a:pPr>
            <a:r>
              <a:t>• Время на рекрутинг: 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AI-ассистент: Технологическое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800"/>
            </a:pPr>
            <a:r>
              <a:t>        🚀 Generative AI / LLM (Copilot-стиль)</a:t>
            </a:r>
            <a:br/>
            <a:r>
              <a:t>        </a:t>
            </a:r>
            <a:br/>
            <a:r>
              <a:t>        Ключевые возможности:</a:t>
            </a:r>
            <a:br/>
            <a:r>
              <a:t>        • Автоматическое создание HR-документов</a:t>
            </a:r>
            <a:br/>
            <a:r>
              <a:t>        • Интеллектуальная обработка запросов сотрудников</a:t>
            </a:r>
            <a:br/>
            <a:r>
              <a:t>        • Анализ и генерация отчетов</a:t>
            </a:r>
            <a:br/>
            <a:r>
              <a:t>        • Планирование и координация процессов</a:t>
            </a:r>
            <a:br/>
            <a:r>
              <a:t>        • 24/7 поддержка через чат-бот</a:t>
            </a:r>
            <a:br/>
            <a:r>
              <a:t>        </a:t>
            </a:r>
            <a:br/>
            <a:r>
              <a:t>        Области применения:</a:t>
            </a:r>
            <a:br/>
            <a:r>
              <a:t>        • Канцелярия и документооборот</a:t>
            </a:r>
            <a:br/>
            <a:r>
              <a:t>        • Офисные административные задачи</a:t>
            </a:r>
            <a:br/>
            <a:r>
              <a:t>        • Бэк-офис операции</a:t>
            </a:r>
            <a:br/>
            <a:r>
              <a:t>        • HR-аналитика и отчетность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Финансовая модель и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• Лицензии AI (год): 240,000 руб</a:t>
            </a:r>
          </a:p>
          <a:p>
            <a:pPr>
              <a:spcAft>
                <a:spcPts val="800"/>
              </a:spcAft>
              <a:defRPr sz="1600"/>
            </a:pPr>
            <a:r>
              <a:t>• Внедрение: 500,000 руб</a:t>
            </a:r>
          </a:p>
          <a:p>
            <a:pPr>
              <a:spcAft>
                <a:spcPts val="800"/>
              </a:spcAft>
              <a:defRPr sz="1600"/>
            </a:pPr>
            <a:r>
              <a:t>• Обучение: 200,000 руб</a:t>
            </a:r>
          </a:p>
          <a:p>
            <a:pPr>
              <a:spcAft>
                <a:spcPts val="800"/>
              </a:spcAft>
              <a:defRPr sz="1600"/>
            </a:pPr>
            <a:r>
              <a:t>• Итого в первый год: 940,000 руб</a:t>
            </a:r>
          </a:p>
          <a:p>
            <a:pPr>
              <a:spcAft>
                <a:spcPts val="800"/>
              </a:spcAft>
              <a:defRPr sz="1600"/>
            </a:pPr>
            <a:r>
              <a:t>• Ежегодно: 240,000 руб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• Экономия на рутине: 374,400 руб/год</a:t>
            </a:r>
          </a:p>
          <a:p>
            <a:pPr>
              <a:spcAft>
                <a:spcPts val="800"/>
              </a:spcAft>
              <a:defRPr sz="1600"/>
            </a:pPr>
            <a:r>
              <a:t>• Рост продуктивности: 144,000 руб/год</a:t>
            </a:r>
          </a:p>
          <a:p>
            <a:pPr>
              <a:spcAft>
                <a:spcPts val="800"/>
              </a:spcAft>
              <a:defRPr sz="1600"/>
            </a:pPr>
            <a:r>
              <a:t>• Общая экономия: 518,400 руб/год</a:t>
            </a:r>
          </a:p>
          <a:p>
            <a:pPr>
              <a:spcAft>
                <a:spcPts val="800"/>
              </a:spcAft>
              <a:defRPr sz="1600"/>
            </a:pPr>
            <a:r>
              <a:t>• Чистая экономия: 278,400 руб/год</a:t>
            </a:r>
          </a:p>
          <a:p>
            <a:pPr>
              <a:spcAft>
                <a:spcPts val="800"/>
              </a:spcAft>
              <a:defRPr sz="1600"/>
            </a:pPr>
            <a:r>
              <a:t>• ROI за 3 года: 89%</a:t>
            </a:r>
          </a:p>
          <a:p>
            <a:pPr>
              <a:spcAft>
                <a:spcPts val="800"/>
              </a:spcAft>
              <a:defRPr sz="1600"/>
            </a:pPr>
            <a:r>
              <a:t>• Окупаемость: 2.5 года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эффективности по отделам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600"/>
            </a:pPr>
            <a:r>
              <a:t>        📊 Результаты по отделам:</a:t>
            </a:r>
            <a:br/>
            <a:r>
              <a:t>        </a:t>
            </a:r>
            <a:br/>
            <a:r>
              <a:t>        🎯 HR-аналитика: ROI 156% (лучший результат)</a:t>
            </a:r>
            <a:br/>
            <a:r>
              <a:t>        • Экономия: 37,800 руб/год</a:t>
            </a:r>
            <a:br/>
            <a:r>
              <a:t>        • Улучшение продуктивности: 27%</a:t>
            </a:r>
            <a:br/>
            <a:r>
              <a:t>        </a:t>
            </a:r>
            <a:br/>
            <a:r>
              <a:t>        📋 Кадровый учет: ROI 89%</a:t>
            </a:r>
            <a:br/>
            <a:r>
              <a:t>        • Экономия: 64,000 руб/год</a:t>
            </a:r>
            <a:br/>
            <a:r>
              <a:t>        • Автоматизация: 80% задач</a:t>
            </a:r>
            <a:br/>
            <a:r>
              <a:t>        </a:t>
            </a:r>
            <a:br/>
            <a:r>
              <a:t>        👥 Рекрутинг: ROI 78%</a:t>
            </a:r>
            <a:br/>
            <a:r>
              <a:t>        • Экономия: 78,000 руб/год</a:t>
            </a:r>
            <a:br/>
            <a:r>
              <a:t>        • Ускорение процессов: 60%</a:t>
            </a:r>
            <a:br/>
            <a:r>
              <a:t>        </a:t>
            </a:r>
            <a:br/>
            <a:r>
              <a:t>        💰 Компенсации: ROI 65%</a:t>
            </a:r>
            <a:br/>
            <a:r>
              <a:t>        • Экономия: 41,400 руб/год</a:t>
            </a:r>
            <a:br/>
            <a:r>
              <a:t>        • Точность расчетов: +30%</a:t>
            </a:r>
            <a:br/>
            <a:r>
              <a:t>        </a:t>
            </a:r>
            <a:br/>
            <a:r>
              <a:t>        🎓 Обучение: ROI 45%</a:t>
            </a:r>
            <a:br/>
            <a:r>
              <a:t>        • Экономия: 26,400 руб/год</a:t>
            </a:r>
            <a:br/>
            <a:r>
              <a:t>        • Качество материалов: +40%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внедрения (Диаграмма Ганта)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600"/>
            </a:pPr>
            <a:r>
              <a:t>        📅 Временные рамки внедрения: 6 месяцев</a:t>
            </a:r>
            <a:br/>
            <a:r>
              <a:t>        </a:t>
            </a:r>
            <a:br/>
            <a:r>
              <a:t>        Этапы реализации:</a:t>
            </a:r>
            <a:br/>
            <a:r>
              <a:t>        </a:t>
            </a:r>
            <a:br/>
            <a:r>
              <a:t>        1️⃣ Анализ процессов (январь 2024)</a:t>
            </a:r>
            <a:br/>
            <a:r>
              <a:t>        • Аудит текущих HR-процессов</a:t>
            </a:r>
            <a:br/>
            <a:r>
              <a:t>        • Выявление точек автоматизации</a:t>
            </a:r>
            <a:br/>
            <a:r>
              <a:t>        </a:t>
            </a:r>
            <a:br/>
            <a:r>
              <a:t>        2️⃣ Выбор платформы (февраль 2024)</a:t>
            </a:r>
            <a:br/>
            <a:r>
              <a:t>        • Тестирование AI-решений</a:t>
            </a:r>
            <a:br/>
            <a:r>
              <a:t>        • Выбор оптимальной платформы</a:t>
            </a:r>
            <a:br/>
            <a:r>
              <a:t>        </a:t>
            </a:r>
            <a:br/>
            <a:r>
              <a:t>        3️⃣ Техническая подготовка (февраль-март 2024)</a:t>
            </a:r>
            <a:br/>
            <a:r>
              <a:t>        • Настройка инфраструктуры</a:t>
            </a:r>
            <a:br/>
            <a:r>
              <a:t>        • Интеграция с существующими системами</a:t>
            </a:r>
            <a:br/>
            <a:r>
              <a:t>        </a:t>
            </a:r>
            <a:br/>
            <a:r>
              <a:t>        4️⃣ Обучение команды (март 2024)</a:t>
            </a:r>
            <a:br/>
            <a:r>
              <a:t>        • Тренинги по работе с AI</a:t>
            </a:r>
            <a:br/>
            <a:r>
              <a:t>        • Разработка новых процессов</a:t>
            </a:r>
            <a:br/>
            <a:r>
              <a:t>        </a:t>
            </a:r>
            <a:br/>
            <a:r>
              <a:t>        5️⃣ Пилотное внедрение (апрель-май 2024)</a:t>
            </a:r>
            <a:br/>
            <a:r>
              <a:t>        • Тестирование на ограниченной группе</a:t>
            </a:r>
            <a:br/>
            <a:r>
              <a:t>        • Сбор обратной связи</a:t>
            </a:r>
            <a:br/>
            <a:r>
              <a:t>        </a:t>
            </a:r>
            <a:br/>
            <a:r>
              <a:t>        6️⃣ Полное внедрение (июнь 2024)</a:t>
            </a:r>
            <a:br/>
            <a:r>
              <a:t>        • Запуск для всей HR-команды</a:t>
            </a:r>
            <a:br/>
            <a:r>
              <a:t>        • Мониторинг и оптимизация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Ожидаемые результаты и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✅ Сокращение времени на рутину: 65%</a:t>
            </a:r>
          </a:p>
          <a:p>
            <a:pPr>
              <a:spcAft>
                <a:spcPts val="800"/>
              </a:spcAft>
              <a:defRPr sz="1600"/>
            </a:pPr>
            <a:r>
              <a:t>✅ Повышение точности: 95%+</a:t>
            </a:r>
          </a:p>
          <a:p>
            <a:pPr>
              <a:spcAft>
                <a:spcPts val="800"/>
              </a:spcAft>
              <a:defRPr sz="1600"/>
            </a:pPr>
            <a:r>
              <a:t>✅ Ускорение ответов: 80%</a:t>
            </a:r>
          </a:p>
          <a:p>
            <a:pPr>
              <a:spcAft>
                <a:spcPts val="800"/>
              </a:spcAft>
              <a:defRPr sz="1600"/>
            </a:pPr>
            <a:r>
              <a:t>✅ Освобождение времени на стратегию: 40%</a:t>
            </a:r>
          </a:p>
          <a:p>
            <a:pPr>
              <a:spcAft>
                <a:spcPts val="800"/>
              </a:spcAft>
              <a:defRPr sz="1600"/>
            </a:pPr>
            <a:r>
              <a:t>✅ Улучшение качества документов</a:t>
            </a:r>
          </a:p>
          <a:p>
            <a:pPr>
              <a:spcAft>
                <a:spcPts val="800"/>
              </a:spcAft>
              <a:defRPr sz="1600"/>
            </a:pPr>
            <a:r>
              <a:t>✅ Повышение удовлетворенности сотрудников</a:t>
            </a:r>
          </a:p>
          <a:p>
            <a:pPr>
              <a:spcAft>
                <a:spcPts val="800"/>
              </a:spcAft>
              <a:defRPr sz="1600"/>
            </a:pPr>
            <a:r>
              <a:t>✅ Снижение операционных ошибок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⚠️ Сопротивление изменениям</a:t>
            </a:r>
          </a:p>
          <a:p>
            <a:pPr>
              <a:spcAft>
                <a:spcPts val="800"/>
              </a:spcAft>
              <a:defRPr sz="1600"/>
            </a:pPr>
            <a:r>
              <a:t>⚠️ Необходимость обучения персонала</a:t>
            </a:r>
          </a:p>
          <a:p>
            <a:pPr>
              <a:spcAft>
                <a:spcPts val="800"/>
              </a:spcAft>
              <a:defRPr sz="1600"/>
            </a:pPr>
            <a:r>
              <a:t>⚠️ Зависимость от технологий</a:t>
            </a:r>
          </a:p>
          <a:p>
            <a:pPr>
              <a:spcAft>
                <a:spcPts val="800"/>
              </a:spcAft>
              <a:defRPr sz="1600"/>
            </a:pPr>
            <a:r>
              <a:t>⚠️ Проблемы с интеграцией</a:t>
            </a:r>
          </a:p>
          <a:p>
            <a:pPr>
              <a:spcAft>
                <a:spcPts val="800"/>
              </a:spcAft>
              <a:defRPr sz="1600"/>
            </a:pPr>
            <a:r>
              <a:t>⚠️ Вопросы безопасности данных</a:t>
            </a:r>
          </a:p>
          <a:p>
            <a:pPr>
              <a:spcAft>
                <a:spcPts val="800"/>
              </a:spcAft>
              <a:defRPr sz="1600"/>
            </a:pPr>
            <a:r>
              <a:t>⚠️ Необходимость технической поддержки</a:t>
            </a:r>
          </a:p>
          <a:p>
            <a:pPr>
              <a:spcAft>
                <a:spcPts val="800"/>
              </a:spcAft>
              <a:defRPr sz="1600"/>
            </a:pPr>
            <a:r>
              <a:t>⚠️ Изменение рабочих процессов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Рекомендации и следующие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pPr>
              <a:defRPr sz="1600"/>
            </a:pPr>
            <a:r>
              <a:t>        🎯 Ключевые рекомендации:</a:t>
            </a:r>
            <a:br/>
            <a:r>
              <a:t>        </a:t>
            </a:r>
            <a:br/>
            <a:r>
              <a:t>        1. Начать с пилотного проекта в отделе HR-аналитики</a:t>
            </a:r>
            <a:br/>
            <a:r>
              <a:t>        • Наибольший потенциал ROI (156%)</a:t>
            </a:r>
            <a:br/>
            <a:r>
              <a:t>        • Относительно простая автоматизация</a:t>
            </a:r>
            <a:br/>
            <a:r>
              <a:t>        </a:t>
            </a:r>
            <a:br/>
            <a:r>
              <a:t>        2. Поэтапное внедрение по отделам</a:t>
            </a:r>
            <a:br/>
            <a:r>
              <a:t>        • Снижение рисков</a:t>
            </a:r>
            <a:br/>
            <a:r>
              <a:t>        • Возможность корректировки подхода</a:t>
            </a:r>
            <a:br/>
            <a:r>
              <a:t>        </a:t>
            </a:r>
            <a:br/>
            <a:r>
              <a:t>        3. Инвестиции в обучение команды</a:t>
            </a:r>
            <a:br/>
            <a:r>
              <a:t>        • Критически важно для успеха</a:t>
            </a:r>
            <a:br/>
            <a:r>
              <a:t>        • Планировать 20% времени на обучение</a:t>
            </a:r>
            <a:br/>
            <a:r>
              <a:t>        </a:t>
            </a:r>
            <a:br/>
            <a:r>
              <a:t>        4. Создание центра компетенций</a:t>
            </a:r>
            <a:br/>
            <a:r>
              <a:t>        • Внутренние эксперты по AI</a:t>
            </a:r>
            <a:br/>
            <a:r>
              <a:t>        • Поддержка и развитие решения</a:t>
            </a:r>
            <a:br/>
            <a:r>
              <a:t>        </a:t>
            </a:r>
            <a:br/>
            <a:r>
              <a:t>        5. Мониторинг и оптимизация</a:t>
            </a:r>
            <a:br/>
            <a:r>
              <a:t>        • Регулярная оценка эффективности</a:t>
            </a:r>
            <a:br/>
            <a:r>
              <a:t>        • Постоянное улучшение процессов</a:t>
            </a:r>
            <a:br/>
            <a:r>
              <a:t>        </a:t>
            </a:r>
            <a:br/>
            <a:r>
              <a:t>        📈 Ожидаемый результат: ROI 89% за 3 года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95959"/>
                </a:solidFill>
              </a:defRPr>
            </a:pPr>
          </a:p>
          <a:p>
            <a:r>
              <a:t>        Внедрение AI-ассистента в HR-процессы обеспечит:</a:t>
            </a:r>
          </a:p>
          <a:p>
            <a:r>
              <a:t>        </a:t>
            </a:r>
          </a:p>
          <a:p>
            <a:r>
              <a:t>        💰 Экономию 278,400 руб/год</a:t>
            </a:r>
          </a:p>
          <a:p>
            <a:r>
              <a:t>        📈 ROI 89% за 3 года</a:t>
            </a:r>
          </a:p>
          <a:p>
            <a:r>
              <a:t>        ⚡ Повышение продуктивности на 25%</a:t>
            </a:r>
          </a:p>
          <a:p>
            <a:r>
              <a:t>        🎯 Освобождение времени для стратегических задач</a:t>
            </a:r>
          </a:p>
          <a:p>
            <a:r>
              <a:t>        </a:t>
            </a:r>
          </a:p>
          <a:p>
            <a:r>
              <a:t>        Рекомендуется начать с пилотного проекта</a:t>
            </a:r>
          </a:p>
          <a:p>
            <a:r>
              <a:t>        и поэтапно масштабировать решение.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